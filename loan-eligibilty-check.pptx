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15400" y="0"/>
            <a:ext cx="3291840" cy="6858000"/>
          </a:xfrm>
          <a:prstGeom prst="rect">
            <a:avLst/>
          </a:prstGeom>
          <a:solidFill>
            <a:srgbClr val="18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464040" y="1005840"/>
            <a:ext cx="2148840" cy="566928"/>
          </a:xfrm>
          <a:prstGeom prst="round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55480" y="1133856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1874519"/>
            <a:ext cx="1691640" cy="566928"/>
          </a:xfrm>
          <a:prstGeom prst="roundRect">
            <a:avLst/>
          </a:prstGeom>
          <a:solidFill>
            <a:srgbClr val="31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2002536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FIELDS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2743200"/>
            <a:ext cx="2148840" cy="566928"/>
          </a:xfrm>
          <a:prstGeom prst="round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55480" y="2871216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C5.0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21240" y="3611880"/>
            <a:ext cx="1691640" cy="566928"/>
          </a:xfrm>
          <a:prstGeom prst="roundRect">
            <a:avLst/>
          </a:prstGeom>
          <a:solidFill>
            <a:srgbClr val="31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3739896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76809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82F4F"/>
                </a:solidFill>
                <a:latin typeface="Aptos"/>
              </a:defRPr>
            </a:pPr>
            <a:r>
              <a:t>LOAN ELIGIBILITY</a:t>
            </a:r>
          </a:p>
          <a:p>
            <a:pPr>
              <a:spcAft>
                <a:spcPts val="800"/>
              </a:spcAft>
              <a:defRPr sz="3400" b="1">
                <a:solidFill>
                  <a:srgbClr val="182F4F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71800"/>
            <a:ext cx="72237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606E7E"/>
                </a:solidFill>
                <a:latin typeface="Aptos"/>
              </a:defRPr>
            </a:pPr>
            <a:r>
              <a:t>A simple classification project using IBM SPSS Modeler 18.6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041648"/>
            <a:ext cx="7040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440"/>
                </a:solidFill>
                <a:latin typeface="Aptos"/>
              </a:defRPr>
            </a:pPr>
            <a:r>
              <a:t>Dataset: loan_approval_dataset.csv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6035040"/>
            <a:ext cx="6949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E7E"/>
                </a:solidFill>
                <a:latin typeface="Aptos"/>
              </a:defRPr>
            </a:pPr>
            <a:r>
              <a:t>Prepared from the project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698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F4F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24128"/>
            <a:ext cx="749808" cy="50292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6E7E"/>
                </a:solidFill>
                <a:latin typeface="Aptos"/>
              </a:defRPr>
            </a:pPr>
            <a:r>
              <a:t>What the project aims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06E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Loan lenders consider applicant details before approving or rejecting a loan.</a:t>
            </a:r>
          </a:p>
          <a:p>
            <a:pPr>
              <a:spcAft>
                <a:spcPts val="12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Data analytics can find patterns in previous loan applications.</a:t>
            </a:r>
          </a:p>
          <a:p>
            <a:pPr>
              <a:spcAft>
                <a:spcPts val="12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This project uses a classification model to predict loan_status.</a:t>
            </a:r>
          </a:p>
          <a:p>
            <a:pPr>
              <a:spcAft>
                <a:spcPts val="12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The output class is either Approved or Rejected.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874519"/>
            <a:ext cx="3383280" cy="214884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874519"/>
            <a:ext cx="73152" cy="2148840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2039112"/>
            <a:ext cx="3017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F4F"/>
                </a:solidFill>
                <a:latin typeface="Aptos"/>
              </a:defRPr>
            </a:pPr>
            <a:r>
              <a:t>Main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2532887"/>
            <a:ext cx="2999232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Support a consistent first assessment of loan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698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F4F"/>
                </a:solidFill>
                <a:latin typeface="Aptos"/>
              </a:defRPr>
            </a:pPr>
            <a:r>
              <a:t>2. Data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24128"/>
            <a:ext cx="749808" cy="50292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6E7E"/>
                </a:solidFill>
                <a:latin typeface="Aptos"/>
              </a:defRPr>
            </a:pPr>
            <a:r>
              <a:t>Dataset and important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06E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1325880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17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F4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299923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0"/>
                </a:solidFill>
                <a:latin typeface="Aptos"/>
              </a:defRPr>
            </a:pPr>
            <a:r>
              <a:t>loan_approval_dataset.csv</a:t>
            </a:r>
          </a:p>
          <a:p>
            <a:pPr>
              <a:spcAft>
                <a:spcPts val="800"/>
              </a:spcAft>
              <a:defRPr sz="1400" b="0">
                <a:solidFill>
                  <a:srgbClr val="2A3440"/>
                </a:solidFill>
                <a:latin typeface="Aptos"/>
              </a:defRPr>
            </a:pPr>
            <a:r>
              <a:t>Kaggle dataset supplied for the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73152" cy="1325880"/>
          </a:xfrm>
          <a:prstGeom prst="rect">
            <a:avLst/>
          </a:prstGeom>
          <a:solidFill>
            <a:srgbClr val="31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17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F4F"/>
                </a:solidFill>
                <a:latin typeface="Aptos"/>
              </a:defRPr>
            </a:pPr>
            <a:r>
              <a:t>Target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299923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A3440"/>
                </a:solidFill>
                <a:latin typeface="Aptos"/>
              </a:defRPr>
            </a:pPr>
            <a:r>
              <a:t>loan_status</a:t>
            </a:r>
          </a:p>
          <a:p>
            <a:pPr>
              <a:spcAft>
                <a:spcPts val="800"/>
              </a:spcAft>
              <a:defRPr sz="1500" b="0">
                <a:solidFill>
                  <a:srgbClr val="2A3440"/>
                </a:solidFill>
                <a:latin typeface="Aptos"/>
              </a:defRPr>
            </a:pPr>
            <a:r>
              <a:t>Approved / Rejected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38328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73152" cy="1325880"/>
          </a:xfrm>
          <a:prstGeom prst="rect">
            <a:avLst/>
          </a:prstGeom>
          <a:solidFill>
            <a:srgbClr val="DE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017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F4F"/>
                </a:solidFill>
                <a:latin typeface="Aptos"/>
              </a:defRPr>
            </a:pPr>
            <a:r>
              <a:t>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299923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0"/>
                </a:solidFill>
                <a:latin typeface="Aptos"/>
              </a:defRPr>
            </a:pPr>
            <a:r>
              <a:t>IBM SPSS Modeler 18.6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2F4F"/>
                </a:solidFill>
                <a:latin typeface="Aptos"/>
              </a:defRPr>
            </a:pPr>
            <a:r>
              <a:t>Main input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103327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t>•  Applicant details: dependants, education, self-employment</a:t>
            </a:r>
          </a:p>
          <a:p>
            <a:pPr>
              <a:spcAft>
                <a:spcPts val="9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t>•  Loan details: annual income, loan amount, loan term</a:t>
            </a:r>
          </a:p>
          <a:p>
            <a:pPr>
              <a:spcAft>
                <a:spcPts val="9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t>•  Financial details: CIBIL score and residential, commercial, luxury and bank assets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698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F4F"/>
                </a:solidFill>
                <a:latin typeface="Aptos"/>
              </a:defRPr>
            </a:pPr>
            <a:r>
              <a:t>3. Project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24128"/>
            <a:ext cx="749808" cy="50292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6E7E"/>
                </a:solidFill>
                <a:latin typeface="Aptos"/>
              </a:defRPr>
            </a:pPr>
            <a:r>
              <a:t>The main steps followed in SPSS Modeler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06E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148840"/>
            <a:ext cx="658368" cy="658368"/>
          </a:xfrm>
          <a:prstGeom prst="ellipse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04288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82F4F"/>
                </a:solidFill>
                <a:latin typeface="Aptos"/>
              </a:defRPr>
            </a:pPr>
            <a:r>
              <a:t>Import 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441448"/>
            <a:ext cx="1325880" cy="32004"/>
          </a:xfrm>
          <a:prstGeom prst="rect">
            <a:avLst/>
          </a:prstGeom>
          <a:solidFill>
            <a:srgbClr val="B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91839" y="2148840"/>
            <a:ext cx="658368" cy="658368"/>
          </a:xfrm>
          <a:prstGeom prst="ellipse">
            <a:avLst/>
          </a:prstGeom>
          <a:solidFill>
            <a:srgbClr val="31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39" y="2304288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017520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82F4F"/>
                </a:solidFill>
                <a:latin typeface="Aptos"/>
              </a:defRPr>
            </a:pPr>
            <a:r>
              <a:t>Set field roles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441448"/>
            <a:ext cx="1325880" cy="32004"/>
          </a:xfrm>
          <a:prstGeom prst="rect">
            <a:avLst/>
          </a:prstGeom>
          <a:solidFill>
            <a:srgbClr val="B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77840" y="2148840"/>
            <a:ext cx="658368" cy="658368"/>
          </a:xfrm>
          <a:prstGeom prst="ellipse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2304288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017520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82F4F"/>
                </a:solidFill>
                <a:latin typeface="Aptos"/>
              </a:defRPr>
            </a:pPr>
            <a:r>
              <a:t>Split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441448"/>
            <a:ext cx="1325880" cy="32004"/>
          </a:xfrm>
          <a:prstGeom prst="rect">
            <a:avLst/>
          </a:prstGeom>
          <a:solidFill>
            <a:srgbClr val="B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63840" y="2148840"/>
            <a:ext cx="658368" cy="658368"/>
          </a:xfrm>
          <a:prstGeom prst="ellipse">
            <a:avLst/>
          </a:prstGeom>
          <a:solidFill>
            <a:srgbClr val="31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304288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017520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82F4F"/>
                </a:solidFill>
                <a:latin typeface="Aptos"/>
              </a:defRPr>
            </a:pPr>
            <a:r>
              <a:t>Train C5.0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2441448"/>
            <a:ext cx="1325880" cy="32004"/>
          </a:xfrm>
          <a:prstGeom prst="rect">
            <a:avLst/>
          </a:prstGeom>
          <a:solidFill>
            <a:srgbClr val="B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49840" y="2148840"/>
            <a:ext cx="658368" cy="658368"/>
          </a:xfrm>
          <a:prstGeom prst="ellipse">
            <a:avLst/>
          </a:prstGeom>
          <a:solidFill>
            <a:srgbClr val="2D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2304288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3017520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82F4F"/>
                </a:solidFill>
                <a:latin typeface="Aptos"/>
              </a:defRPr>
            </a:pPr>
            <a:r>
              <a:t>Predict &amp; evaluate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160520"/>
            <a:ext cx="10332720" cy="109728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160520"/>
            <a:ext cx="73152" cy="1097280"/>
          </a:xfrm>
          <a:prstGeom prst="rect">
            <a:avLst/>
          </a:prstGeom>
          <a:solidFill>
            <a:srgbClr val="31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325112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F4F"/>
                </a:solidFill>
                <a:latin typeface="Aptos"/>
              </a:defRPr>
            </a:pPr>
            <a:r>
              <a:t>Workflow in one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818888"/>
            <a:ext cx="99486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File source → Type node → Partition node → C5.0 model → Prediction output →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698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F4F"/>
                </a:solidFill>
                <a:latin typeface="Aptos"/>
              </a:defRPr>
            </a:pPr>
            <a:r>
              <a:t>4. Data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24128"/>
            <a:ext cx="749808" cy="50292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6E7E"/>
                </a:solidFill>
                <a:latin typeface="Aptos"/>
              </a:defRPr>
            </a:pPr>
            <a:r>
              <a:t>Import, inspect and define the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06E7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301752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73152" cy="3017520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3063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F4F"/>
                </a:solidFill>
                <a:latin typeface="Aptos"/>
              </a:defRPr>
            </a:pPr>
            <a:r>
              <a:t>Step A — Import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41448"/>
            <a:ext cx="3044952" cy="22402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• Open the CSV source node</a:t>
            </a:r>
          </a:p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• Select loan_approval_dataset.csv</a:t>
            </a:r>
          </a:p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• Preview the columns and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429000" cy="301752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73152" cy="3017520"/>
          </a:xfrm>
          <a:prstGeom prst="rect">
            <a:avLst/>
          </a:prstGeom>
          <a:solidFill>
            <a:srgbClr val="31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3063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F4F"/>
                </a:solidFill>
                <a:latin typeface="Aptos"/>
              </a:defRPr>
            </a:pPr>
            <a:r>
              <a:t>Step B — Check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41448"/>
            <a:ext cx="3044952" cy="22402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• Confirm numeric and category fields</a:t>
            </a:r>
          </a:p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• Check field names and values</a:t>
            </a:r>
          </a:p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• Make sure data is readable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429000" cy="301752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73152" cy="3017520"/>
          </a:xfrm>
          <a:prstGeom prst="rect">
            <a:avLst/>
          </a:prstGeom>
          <a:solidFill>
            <a:srgbClr val="DE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47672"/>
            <a:ext cx="3063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F4F"/>
                </a:solidFill>
                <a:latin typeface="Aptos"/>
              </a:defRPr>
            </a:pPr>
            <a:r>
              <a:t>Step C — Set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41448"/>
            <a:ext cx="3044952" cy="22402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0"/>
                </a:solidFill>
                <a:latin typeface="Aptos"/>
              </a:defRPr>
            </a:pPr>
            <a:r>
              <a:t>• Set loan_status as Target</a:t>
            </a:r>
          </a:p>
          <a:p>
            <a:pPr>
              <a:spcAft>
                <a:spcPts val="800"/>
              </a:spcAft>
              <a:defRPr sz="1600" b="0">
                <a:solidFill>
                  <a:srgbClr val="2A3440"/>
                </a:solidFill>
                <a:latin typeface="Aptos"/>
              </a:defRPr>
            </a:pPr>
            <a:r>
              <a:t>• Keep other relevant fields as Inputs</a:t>
            </a:r>
          </a:p>
          <a:p>
            <a:pPr>
              <a:spcAft>
                <a:spcPts val="800"/>
              </a:spcAft>
              <a:defRPr sz="1600" b="0">
                <a:solidFill>
                  <a:srgbClr val="2A3440"/>
                </a:solidFill>
                <a:latin typeface="Aptos"/>
              </a:defRPr>
            </a:pPr>
            <a:r>
              <a:t>• Confirm Approved / Rejected classes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698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F4F"/>
                </a:solidFill>
                <a:latin typeface="Aptos"/>
              </a:defRPr>
            </a:pPr>
            <a:r>
              <a:t>5. Train and Test 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24128"/>
            <a:ext cx="749808" cy="50292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6E7E"/>
                </a:solidFill>
                <a:latin typeface="Aptos"/>
              </a:defRPr>
            </a:pPr>
            <a:r>
              <a:t>A separate test set helps check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06E7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1148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82F4F"/>
                </a:solidFill>
                <a:latin typeface="Aptos"/>
              </a:defRPr>
            </a:pPr>
            <a:r>
              <a:t>70%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828800"/>
            <a:ext cx="3657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82F4F"/>
                </a:solidFill>
                <a:latin typeface="Aptos"/>
              </a:defRPr>
            </a:pPr>
            <a:r>
              <a:t>30%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6583680" cy="658368"/>
          </a:xfrm>
          <a:prstGeom prst="roundRect">
            <a:avLst/>
          </a:prstGeom>
          <a:solidFill>
            <a:srgbClr val="31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2423160"/>
            <a:ext cx="2834640" cy="658368"/>
          </a:xfrm>
          <a:prstGeom prst="round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24128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3440"/>
                </a:solidFill>
                <a:latin typeface="Aptos"/>
              </a:defRPr>
            </a:pPr>
            <a:r>
              <a:t>•  Training records teach the model the patterns in the data.</a:t>
            </a:r>
          </a:p>
          <a:p>
            <a:pPr>
              <a:spcAft>
                <a:spcPts val="1000"/>
              </a:spcAft>
              <a:defRPr sz="1800">
                <a:solidFill>
                  <a:srgbClr val="2A3440"/>
                </a:solidFill>
                <a:latin typeface="Aptos"/>
              </a:defRPr>
            </a:pPr>
            <a:r>
              <a:t>•  Testing records are held back to check predictions on records not used for training.</a:t>
            </a:r>
          </a:p>
          <a:p>
            <a:pPr>
              <a:spcAft>
                <a:spcPts val="1000"/>
              </a:spcAft>
              <a:defRPr sz="1800">
                <a:solidFill>
                  <a:srgbClr val="2A3440"/>
                </a:solidFill>
                <a:latin typeface="Aptos"/>
              </a:defRPr>
            </a:pPr>
            <a:r>
              <a:t>•  The report describes a 70% / 30% split; confirm the final stream settings.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698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F4F"/>
                </a:solidFill>
                <a:latin typeface="Aptos"/>
              </a:defRPr>
            </a:pPr>
            <a:r>
              <a:t>6. Model Used — C5.0 Decision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24128"/>
            <a:ext cx="749808" cy="50292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6E7E"/>
                </a:solidFill>
                <a:latin typeface="Aptos"/>
              </a:defRPr>
            </a:pPr>
            <a:r>
              <a:t>How the model makes a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06E7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24612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3246120"/>
          </a:xfrm>
          <a:prstGeom prst="rect">
            <a:avLst/>
          </a:prstGeom>
          <a:solidFill>
            <a:srgbClr val="31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475487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F4F"/>
                </a:solidFill>
                <a:latin typeface="Aptos"/>
              </a:defRPr>
            </a:pPr>
            <a:r>
              <a:t>What is C5.0?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4736592" cy="24688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A3440"/>
                </a:solidFill>
                <a:latin typeface="Aptos"/>
              </a:defRPr>
            </a:pPr>
            <a:r>
              <a:t>A supervised classification algorithm that learns rules from labelled examples. It uses applicant fields to distinguish Approved from Rejected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120640" cy="324612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73152" cy="3246120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01952"/>
            <a:ext cx="475487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F4F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95728"/>
            <a:ext cx="4736592" cy="24688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1. Learns patterns from training data</a:t>
            </a:r>
          </a:p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2. Builds decision rules from input fields</a:t>
            </a:r>
          </a:p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3. Applies rules to new records</a:t>
            </a:r>
          </a:p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4. Produces a predicted loan_status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0584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6E7E"/>
                </a:solidFill>
                <a:latin typeface="Aptos"/>
              </a:defRPr>
            </a:pPr>
            <a:r>
              <a:t>The trained model appears as a model nugget in the SPSS stream.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698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F4F"/>
                </a:solidFill>
                <a:latin typeface="Aptos"/>
              </a:defRPr>
            </a:pPr>
            <a:r>
              <a:t>7. Generate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24128"/>
            <a:ext cx="749808" cy="50292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6E7E"/>
                </a:solidFill>
                <a:latin typeface="Aptos"/>
              </a:defRPr>
            </a:pPr>
            <a:r>
              <a:t>Use the model nugget and inspect the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06E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A3440"/>
                </a:solidFill>
                <a:latin typeface="Aptos"/>
              </a:defRPr>
            </a:pPr>
            <a:r>
              <a:t>•  Connect the trained model nugget to the scoring/output path.</a:t>
            </a:r>
          </a:p>
          <a:p>
            <a:pPr>
              <a:spcAft>
                <a:spcPts val="1300"/>
              </a:spcAft>
              <a:defRPr sz="1900">
                <a:solidFill>
                  <a:srgbClr val="2A3440"/>
                </a:solidFill>
                <a:latin typeface="Aptos"/>
              </a:defRPr>
            </a:pPr>
            <a:r>
              <a:t>•  Run the stream to create predicted loan-status values.</a:t>
            </a:r>
          </a:p>
          <a:p>
            <a:pPr>
              <a:spcAft>
                <a:spcPts val="1300"/>
              </a:spcAft>
              <a:defRPr sz="1900">
                <a:solidFill>
                  <a:srgbClr val="2A3440"/>
                </a:solidFill>
                <a:latin typeface="Aptos"/>
              </a:defRPr>
            </a:pPr>
            <a:r>
              <a:t>•  The prediction field may appear as $C-loan_status.</a:t>
            </a:r>
          </a:p>
          <a:p>
            <a:pPr>
              <a:spcAft>
                <a:spcPts val="1300"/>
              </a:spcAft>
              <a:defRPr sz="1900">
                <a:solidFill>
                  <a:srgbClr val="2A3440"/>
                </a:solidFill>
                <a:latin typeface="Aptos"/>
              </a:defRPr>
            </a:pPr>
            <a:r>
              <a:t>•  Compare actual loan_status with the predicted value in the output table.</a:t>
            </a:r>
          </a:p>
          <a:p>
            <a:pPr>
              <a:spcAft>
                <a:spcPts val="1300"/>
              </a:spcAft>
              <a:defRPr sz="1900">
                <a:solidFill>
                  <a:srgbClr val="2A3440"/>
                </a:solidFill>
                <a:latin typeface="Aptos"/>
              </a:defRPr>
            </a:pPr>
            <a:r>
              <a:t>•  Matching values are correct classifications; mismatches are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5166360"/>
            <a:ext cx="3383280" cy="82296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5166360"/>
            <a:ext cx="73152" cy="822960"/>
          </a:xfrm>
          <a:prstGeom prst="rect">
            <a:avLst/>
          </a:prstGeom>
          <a:solidFill>
            <a:srgbClr val="DE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330952"/>
            <a:ext cx="3017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F4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5824728"/>
            <a:ext cx="2999232" cy="45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A3440"/>
                </a:solidFill>
                <a:latin typeface="Aptos"/>
              </a:defRPr>
            </a:pPr>
            <a:r>
              <a:t>A few rows do not show full model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698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F4F"/>
                </a:solidFill>
                <a:latin typeface="Aptos"/>
              </a:defRPr>
            </a:pPr>
            <a:r>
              <a:t>8. Results and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24128"/>
            <a:ext cx="749808" cy="50292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6E7E"/>
                </a:solidFill>
                <a:latin typeface="Aptos"/>
              </a:defRPr>
            </a:pPr>
            <a:r>
              <a:t>Reported values from the project report — verify with final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06E7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251460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93392"/>
            <a:ext cx="22860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3168A8"/>
                </a:solidFill>
                <a:latin typeface="Aptos"/>
              </a:defRPr>
            </a:pPr>
            <a:r>
              <a:t>99.09%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606E7E"/>
                </a:solidFill>
                <a:latin typeface="Aptos"/>
              </a:defRPr>
            </a:pPr>
            <a:r>
              <a:t>Training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783080"/>
            <a:ext cx="251460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1993392"/>
            <a:ext cx="22860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2A918F"/>
                </a:solidFill>
                <a:latin typeface="Aptos"/>
              </a:defRPr>
            </a:pPr>
            <a:r>
              <a:t>98.24%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542032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606E7E"/>
                </a:solidFill>
                <a:latin typeface="Aptos"/>
              </a:defRPr>
            </a:pPr>
            <a:r>
              <a:t>Testing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251460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993392"/>
            <a:ext cx="22860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DE923A"/>
                </a:solidFill>
                <a:latin typeface="Aptos"/>
              </a:defRPr>
            </a:pPr>
            <a:r>
              <a:t>1,310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542032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606E7E"/>
                </a:solidFill>
                <a:latin typeface="Aptos"/>
              </a:defRPr>
            </a:pPr>
            <a:r>
              <a:t>Testing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783080"/>
            <a:ext cx="251460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6607" y="1993392"/>
            <a:ext cx="22860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2D825F"/>
                </a:solidFill>
                <a:latin typeface="Aptos"/>
              </a:defRPr>
            </a:pPr>
            <a:r>
              <a:t>1,287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6607" y="2542032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606E7E"/>
                </a:solidFill>
                <a:latin typeface="Aptos"/>
              </a:defRPr>
            </a:pPr>
            <a:r>
              <a:t>Correct predictions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20440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F4F"/>
                </a:solidFill>
                <a:latin typeface="Aptos"/>
              </a:defRPr>
            </a:pPr>
            <a:r>
              <a:t>Also reported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100584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t>•  23 incorrect predictions out of 1,310 test records</a:t>
            </a:r>
          </a:p>
          <a:p>
            <a:pPr>
              <a:spcAft>
                <a:spcPts val="7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t>•  Testing error rate: approximately 1.76%</a:t>
            </a:r>
          </a:p>
          <a:p>
            <a:pPr>
              <a:spcAft>
                <a:spcPts val="7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t>•  Training and testing accuracy are close, suggesting similar performance across these partitions.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9788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6E7E"/>
                </a:solidFill>
                <a:latin typeface="Aptos"/>
              </a:defRPr>
            </a:pPr>
            <a:r>
              <a:t>Accuracy alone is not enough; class-wise precision, recall and a confusion matrix would add detail.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698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F4F"/>
                </a:solidFill>
                <a:latin typeface="Aptos"/>
              </a:defRPr>
            </a:pPr>
            <a:r>
              <a:t>9.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24128"/>
            <a:ext cx="749808" cy="50292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6E7E"/>
                </a:solidFill>
                <a:latin typeface="Aptos"/>
              </a:defRPr>
            </a:pPr>
            <a:r>
              <a:t>Key takeaways and future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06E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66360" cy="333756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3337560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4800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F4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0008"/>
            <a:ext cx="4782312" cy="2560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• Built a loan-status classification workflow in SPSS Modeler.</a:t>
            </a:r>
          </a:p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• C5.0 model generated Approved / Rejected predictions.</a:t>
            </a:r>
          </a:p>
          <a:p>
            <a:pPr>
              <a:spcAft>
                <a:spcPts val="800"/>
              </a:spcAft>
              <a:defRPr sz="1700" b="0">
                <a:solidFill>
                  <a:srgbClr val="2A3440"/>
                </a:solidFill>
                <a:latin typeface="Aptos"/>
              </a:defRPr>
            </a:pPr>
            <a:r>
              <a:t>• Reported testing accuracy was 98.24%, subject to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166360" cy="3337560"/>
          </a:xfrm>
          <a:prstGeom prst="roundRect">
            <a:avLst/>
          </a:prstGeom>
          <a:solidFill>
            <a:srgbClr val="EFF5FA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3337560"/>
          </a:xfrm>
          <a:prstGeom prst="rect">
            <a:avLst/>
          </a:prstGeom>
          <a:solidFill>
            <a:srgbClr val="31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4800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F4F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50008"/>
            <a:ext cx="4782312" cy="2560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0"/>
                </a:solidFill>
                <a:latin typeface="Aptos"/>
              </a:defRPr>
            </a:pPr>
            <a:r>
              <a:t>• Check a confusion matrix, precision and recall.</a:t>
            </a:r>
          </a:p>
          <a:p>
            <a:pPr>
              <a:spcAft>
                <a:spcPts val="800"/>
              </a:spcAft>
              <a:defRPr sz="1600" b="0">
                <a:solidFill>
                  <a:srgbClr val="2A3440"/>
                </a:solidFill>
                <a:latin typeface="Aptos"/>
              </a:defRPr>
            </a:pPr>
            <a:r>
              <a:t>• Validate with other data splits or new records.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0"/>
                </a:solidFill>
                <a:latin typeface="Aptos"/>
              </a:defRPr>
            </a:pPr>
            <a:r>
              <a:t>• Review data quality and use the model to support—not replace—human judgement.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82F4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49640" y="0"/>
            <a:ext cx="3642055" cy="6858000"/>
          </a:xfrm>
          <a:prstGeom prst="rect">
            <a:avLst/>
          </a:prstGeom>
          <a:solidFill>
            <a:srgbClr val="18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1325880"/>
            <a:ext cx="2286000" cy="502920"/>
          </a:xfrm>
          <a:prstGeom prst="round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55480" y="2057400"/>
            <a:ext cx="1874519" cy="502920"/>
          </a:xfrm>
          <a:prstGeom prst="roundRect">
            <a:avLst/>
          </a:prstGeom>
          <a:solidFill>
            <a:srgbClr val="31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2788920"/>
            <a:ext cx="2286000" cy="502920"/>
          </a:xfrm>
          <a:prstGeom prst="round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731520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182F4F"/>
                </a:solidFill>
                <a:latin typeface="Aptos"/>
              </a:defRPr>
            </a:pPr>
            <a:r>
              <a:t>SECTORAL FUNCTIONAL</a:t>
            </a:r>
          </a:p>
          <a:p>
            <a:pPr>
              <a:spcAft>
                <a:spcPts val="800"/>
              </a:spcAft>
              <a:defRPr sz="3100" b="1">
                <a:solidFill>
                  <a:srgbClr val="182F4F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2487168"/>
            <a:ext cx="868680" cy="54864"/>
          </a:xfrm>
          <a:prstGeom prst="rect">
            <a:avLst/>
          </a:prstGeom>
          <a:solidFill>
            <a:srgbClr val="2A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788920"/>
            <a:ext cx="68580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168A8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401568"/>
            <a:ext cx="71323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82F4F"/>
                </a:solidFill>
                <a:latin typeface="Aptos"/>
              </a:defRPr>
            </a:pPr>
            <a:r>
              <a:t>Loan Eligibility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4343400"/>
            <a:ext cx="694944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06E7E"/>
                </a:solidFill>
                <a:latin typeface="Aptos"/>
              </a:defRPr>
            </a:pPr>
            <a:r>
              <a:t>Name: Divyanshi Singh</a:t>
            </a:r>
          </a:p>
          <a:p>
            <a:pPr>
              <a:spcAft>
                <a:spcPts val="800"/>
              </a:spcAft>
              <a:defRPr sz="1800" b="0">
                <a:solidFill>
                  <a:srgbClr val="606E7E"/>
                </a:solidFill>
                <a:latin typeface="Aptos"/>
              </a:defRPr>
            </a:pPr>
            <a:r>
              <a:t>Roll No.: 1240645077</a:t>
            </a:r>
          </a:p>
          <a:p>
            <a:pPr>
              <a:spcAft>
                <a:spcPts val="800"/>
              </a:spcAft>
              <a:defRPr sz="1800" b="0">
                <a:solidFill>
                  <a:srgbClr val="606E7E"/>
                </a:solidFill>
                <a:latin typeface="Aptos"/>
              </a:defRPr>
            </a:pPr>
            <a:r>
              <a:t>Section: BBA BA31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37947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DATA  •  ANALYSIS  • 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